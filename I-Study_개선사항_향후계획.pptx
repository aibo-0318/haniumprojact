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I-STUDY  ·  프로젝트 리뷰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68680"/>
            <a:ext cx="8686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개선사항 &amp;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1790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AI 시선추적 학습 집중도 관리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457200"/>
            <a:ext cx="2834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>
                <a:solidFill>
                  <a:srgbClr val="8A8A8A"/>
                </a:solidFill>
                <a:latin typeface="Malgun Gothic"/>
                <a:ea typeface="Malgun Gothic"/>
                <a:cs typeface="Malgun Gothic"/>
              </a:rPr>
              <a:t>한이음 프로젝트 · 2026</a:t>
            </a:r>
          </a:p>
          <a:p>
            <a:pPr algn="r"/>
            <a:r>
              <a:rPr sz="1050">
                <a:solidFill>
                  <a:srgbClr val="8A8A8A"/>
                </a:solidFill>
                <a:latin typeface="Malgun Gothic"/>
                <a:ea typeface="Malgun Gothic"/>
                <a:cs typeface="Malgun Gothic"/>
              </a:rPr>
              <a:t>데스크톱 앱 + 웹 대시보드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93392"/>
            <a:ext cx="5449824" cy="457200"/>
          </a:xfrm>
          <a:prstGeom prst="roundRect">
            <a:avLst>
              <a:gd name="adj" fmla="val 2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93392"/>
            <a:ext cx="50840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개선사항 (완료)</a:t>
            </a:r>
          </a:p>
        </p:txBody>
      </p:sp>
      <p:sp>
        <p:nvSpPr>
          <p:cNvPr id="8" name="Oval 7"/>
          <p:cNvSpPr/>
          <p:nvPr/>
        </p:nvSpPr>
        <p:spPr>
          <a:xfrm>
            <a:off x="539496" y="2754630"/>
            <a:ext cx="310896" cy="310896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334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백엔드 아키텍처 분리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REST·웹은 Spring Boot, AI 시선추적은 FastAPI로 이원화</a:t>
            </a:r>
          </a:p>
        </p:txBody>
      </p:sp>
      <p:sp>
        <p:nvSpPr>
          <p:cNvPr id="10" name="Oval 9"/>
          <p:cNvSpPr/>
          <p:nvPr/>
        </p:nvSpPr>
        <p:spPr>
          <a:xfrm>
            <a:off x="539496" y="3326130"/>
            <a:ext cx="310896" cy="310896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2049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데이터 모델 통합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study_sessions 단일화로 앱·웹 학습기록 통합 (중복 4개 제거)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" y="3897630"/>
            <a:ext cx="310896" cy="310896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7764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데스크톱 앱 경량화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집중 모드에 집중 — 통계·화이트리스트는 웹으로 이전</a:t>
            </a:r>
          </a:p>
        </p:txBody>
      </p:sp>
      <p:sp>
        <p:nvSpPr>
          <p:cNvPr id="14" name="Oval 13"/>
          <p:cNvSpPr/>
          <p:nvPr/>
        </p:nvSpPr>
        <p:spPr>
          <a:xfrm>
            <a:off x="539496" y="4469130"/>
            <a:ext cx="310896" cy="310896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3479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AI 인식률 검증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AFLW2000 4,000장으로 시선 방향 인식 97.6% 달성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" y="5040630"/>
            <a:ext cx="310896" cy="310896"/>
          </a:xfrm>
          <a:prstGeom prst="ellipse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9194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손쉬운 배포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설치 불필요 EXE + LAN·오프라인 모드 지원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993392"/>
            <a:ext cx="5449824" cy="457200"/>
          </a:xfrm>
          <a:prstGeom prst="roundRect">
            <a:avLst>
              <a:gd name="adj" fmla="val 28000"/>
            </a:avLst>
          </a:prstGeom>
          <a:solidFill>
            <a:srgbClr val="C7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2"/>
            <a:ext cx="50840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 </a:t>
            </a: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향후 계획</a:t>
            </a:r>
          </a:p>
        </p:txBody>
      </p:sp>
      <p:sp>
        <p:nvSpPr>
          <p:cNvPr id="20" name="Oval 19"/>
          <p:cNvSpPr/>
          <p:nvPr/>
        </p:nvSpPr>
        <p:spPr>
          <a:xfrm>
            <a:off x="6272784" y="2754630"/>
            <a:ext cx="310896" cy="310896"/>
          </a:xfrm>
          <a:prstGeom prst="ellipse">
            <a:avLst/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26334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AI 정확도 고도화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취약한 '아래' 방향(84%) 데이터 보강·ML 모델 상시 적용</a:t>
            </a:r>
          </a:p>
        </p:txBody>
      </p:sp>
      <p:sp>
        <p:nvSpPr>
          <p:cNvPr id="22" name="Oval 21"/>
          <p:cNvSpPr/>
          <p:nvPr/>
        </p:nvSpPr>
        <p:spPr>
          <a:xfrm>
            <a:off x="6272784" y="3326130"/>
            <a:ext cx="310896" cy="310896"/>
          </a:xfrm>
          <a:prstGeom prst="ellipse">
            <a:avLst/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32049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캘리브레이션 자동화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사용자별 시선 임계값 자동 보정으로 정확도 향상</a:t>
            </a:r>
          </a:p>
        </p:txBody>
      </p:sp>
      <p:sp>
        <p:nvSpPr>
          <p:cNvPr id="24" name="Oval 23"/>
          <p:cNvSpPr/>
          <p:nvPr/>
        </p:nvSpPr>
        <p:spPr>
          <a:xfrm>
            <a:off x="6272784" y="3897630"/>
            <a:ext cx="310896" cy="310896"/>
          </a:xfrm>
          <a:prstGeom prst="ellipse">
            <a:avLst/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37764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클라우드 배포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LAN 한정 → 어디서나 접속 가능한 클라우드 호스팅</a:t>
            </a:r>
          </a:p>
        </p:txBody>
      </p:sp>
      <p:sp>
        <p:nvSpPr>
          <p:cNvPr id="26" name="Oval 25"/>
          <p:cNvSpPr/>
          <p:nvPr/>
        </p:nvSpPr>
        <p:spPr>
          <a:xfrm>
            <a:off x="6272784" y="4469130"/>
            <a:ext cx="310896" cy="310896"/>
          </a:xfrm>
          <a:prstGeom prst="ellipse">
            <a:avLst/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6" y="43479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학습 리포트 강화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집중도 추이 분석 및 지도자용 자동 리포트 생성</a:t>
            </a:r>
          </a:p>
        </p:txBody>
      </p:sp>
      <p:sp>
        <p:nvSpPr>
          <p:cNvPr id="28" name="Oval 27"/>
          <p:cNvSpPr/>
          <p:nvPr/>
        </p:nvSpPr>
        <p:spPr>
          <a:xfrm>
            <a:off x="6272784" y="5040630"/>
            <a:ext cx="310896" cy="310896"/>
          </a:xfrm>
          <a:prstGeom prst="ellipse">
            <a:avLst/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4919472"/>
            <a:ext cx="4937760" cy="553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C78212"/>
                </a:solidFill>
                <a:latin typeface="Malgun Gothic"/>
                <a:ea typeface="Malgun Gothic"/>
                <a:cs typeface="Malgun Gothic"/>
              </a:rPr>
              <a:t>알림·플랫폼 확장</a:t>
            </a:r>
            <a:r>
              <a:rPr sz="110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 주간 리포트·푸시 알림, 모바일 대응 검토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87568"/>
            <a:ext cx="3544824" cy="768096"/>
          </a:xfrm>
          <a:prstGeom prst="roundRect">
            <a:avLst>
              <a:gd name="adj" fmla="val 16000"/>
            </a:avLst>
          </a:prstGeom>
          <a:solidFill>
            <a:srgbClr val="F2F6FB"/>
          </a:solidFill>
          <a:ln w="12700">
            <a:solidFill>
              <a:srgbClr val="DD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5779007"/>
            <a:ext cx="3087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97.6%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6144768"/>
            <a:ext cx="3087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AI 시선방향 인식 정확도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2064" y="5687568"/>
            <a:ext cx="3544824" cy="768096"/>
          </a:xfrm>
          <a:prstGeom prst="roundRect">
            <a:avLst>
              <a:gd name="adj" fmla="val 16000"/>
            </a:avLst>
          </a:prstGeom>
          <a:solidFill>
            <a:srgbClr val="F2F6FB"/>
          </a:solidFill>
          <a:ln w="12700">
            <a:solidFill>
              <a:srgbClr val="DD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9808" y="5779007"/>
            <a:ext cx="3087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>
                <a:solidFill>
                  <a:srgbClr val="2E6FB7"/>
                </a:solidFill>
                <a:latin typeface="Malgun Gothic"/>
                <a:ea typeface="Malgun Gothic"/>
                <a:cs typeface="Malgun Gothic"/>
              </a:rPr>
              <a:t>30 FPS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8096" y="6144768"/>
            <a:ext cx="3087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실시간 시선추적 처리 성능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41208" y="5687568"/>
            <a:ext cx="3544824" cy="768096"/>
          </a:xfrm>
          <a:prstGeom prst="roundRect">
            <a:avLst>
              <a:gd name="adj" fmla="val 16000"/>
            </a:avLst>
          </a:prstGeom>
          <a:solidFill>
            <a:srgbClr val="F2F6FB"/>
          </a:solidFill>
          <a:ln w="12700">
            <a:solidFill>
              <a:srgbClr val="DDE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8952" y="5779007"/>
            <a:ext cx="3087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7개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7240" y="6144768"/>
            <a:ext cx="3087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통합 DB 테이블 (중복 4개 제거)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